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Average"/>
      <p:regular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Average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db3536d7ea_1_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" name="Google Shape;53;g3db3536d7ea_1_17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1"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the past, automation threatened factory jobs while office roles felt safe. Now with AI able to code, handle customer support and even create art which jobs are at risk?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1"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are going to show that we want to invest in a career that shows AI adapatiblility over full AI usage. 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54" name="Google Shape;54;g3db3536d7ea_1_17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db3536d7ea_1_3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" name="Google Shape;65;g3db3536d7ea_1_34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Talking points: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Past 10 years: Covid Changed shape of workforce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The rise of the </a:t>
            </a:r>
            <a:r>
              <a:rPr lang="en" sz="1200">
                <a:solidFill>
                  <a:schemeClr val="dk1"/>
                </a:solidFill>
              </a:rPr>
              <a:t>transformer</a:t>
            </a:r>
            <a:r>
              <a:rPr lang="en" sz="1200">
                <a:solidFill>
                  <a:schemeClr val="dk1"/>
                </a:solidFill>
              </a:rPr>
              <a:t> models and LLM’s have automated processes and forms previously thought impossible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6" name="Google Shape;66;g3db3536d7ea_1_34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db3536d7ea_2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g3db3536d7ea_2_0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92" name="Google Shape;92;g3db3536d7ea_2_0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dc2338bb44_0_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" name="Google Shape;113;g3dc2338bb44_0_3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14" name="Google Shape;114;g3dc2338bb44_0_3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db3536d7ea_2_12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4" name="Google Shape;134;g3db3536d7ea_2_129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Transition: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Now that we have introduced the impact of AI the next question is </a:t>
            </a:r>
            <a:r>
              <a:rPr i="1" lang="en">
                <a:solidFill>
                  <a:schemeClr val="dk1"/>
                </a:solidFill>
                <a:highlight>
                  <a:srgbClr val="FFF2CC"/>
                </a:highlight>
              </a:rPr>
              <a:t>which jobs are actually at the highest risk of automation?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Chart explanation: 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this chart shows  the automation risk score across major job categories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higher the score the more likely tasks in that job can be automated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top 3 are: Office and administrative support, Production jobs , Farming, fishing, and forestry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reasoning: These jobs are usually involved with routine and repetitive tasks that are easily automated using AI and machines 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  <a:highlight>
                  <a:srgbClr val="FFF2CC"/>
                </a:highlight>
              </a:rPr>
              <a:t>The numbers beside the graphs are employment projection 2034 - employment 2024, negative represents loss and positive represents gained 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35" name="Google Shape;135;g3db3536d7ea_2_129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d9b129c8b_0_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0" name="Google Shape;150;g3dd9b129c8b_0_16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04B87"/>
                </a:solidFill>
              </a:rPr>
              <a:t>ANALYSIS</a:t>
            </a:r>
            <a:endParaRPr b="1" sz="800">
              <a:solidFill>
                <a:srgbClr val="004B87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rgbClr val="004B87"/>
              </a:buClr>
              <a:buSzPts val="800"/>
              <a:buChar char="-"/>
            </a:pPr>
            <a:r>
              <a:rPr lang="en" sz="1000">
                <a:solidFill>
                  <a:schemeClr val="dk1"/>
                </a:solidFill>
              </a:rPr>
              <a:t>Management &amp; Computer/Math roles (AI-Augmented, $104K–$107K) sit far above the $67K average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 sz="1000">
                <a:solidFill>
                  <a:schemeClr val="dk1"/>
                </a:solidFill>
              </a:rPr>
              <a:t>Production &amp; Office roles (AI-Replacing, $43K–$46K) are the most displaced and lowest paid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 sz="1000">
                <a:solidFill>
                  <a:schemeClr val="dk1"/>
                </a:solidFill>
              </a:rPr>
              <a:t>Healthcare ($75K, AI-Assisted) sits in the middle—protected by regulation and human-touch requirements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 sz="1000">
                <a:solidFill>
                  <a:schemeClr val="dk1"/>
                </a:solidFill>
              </a:rPr>
              <a:t>AI amplifies existing inequality: workers who can't retrain into higher tiers face permanent wage erosion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51" name="Google Shape;151;g3dd9b129c8b_0_16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db3536d7ea_2_14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6" name="Google Shape;166;g3db3536d7ea_2_143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A8499"/>
              </a:buClr>
              <a:buSzPts val="85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3db3536d7ea_2_143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db3536d7ea_2_17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2" name="Google Shape;182;g3db3536d7ea_2_171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lang="en" sz="1200">
                <a:solidFill>
                  <a:schemeClr val="dk1"/>
                </a:solidFill>
              </a:rPr>
              <a:t>Here we look at the jobs that don’t require college degree and ranked them using </a:t>
            </a:r>
            <a:r>
              <a:rPr lang="en" sz="1200">
                <a:solidFill>
                  <a:schemeClr val="dk1"/>
                </a:solidFill>
              </a:rPr>
              <a:t>opportunity</a:t>
            </a:r>
            <a:r>
              <a:rPr lang="en" sz="1200">
                <a:solidFill>
                  <a:schemeClr val="dk1"/>
                </a:solidFill>
              </a:rPr>
              <a:t> score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 sz="1200">
                <a:solidFill>
                  <a:schemeClr val="dk1"/>
                </a:solidFill>
              </a:rPr>
              <a:t>On the top we see Concentration on health care support, skill based trades, service based industry in high demand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 sz="1200">
                <a:solidFill>
                  <a:schemeClr val="dk1"/>
                </a:solidFill>
              </a:rPr>
              <a:t>We see a growing in home care aids perhaps because of our growing aging population that need healthcare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 sz="1200">
                <a:solidFill>
                  <a:schemeClr val="dk1"/>
                </a:solidFill>
              </a:rPr>
              <a:t>Let’s look at both </a:t>
            </a:r>
            <a:r>
              <a:rPr lang="en" sz="1200">
                <a:solidFill>
                  <a:schemeClr val="dk1"/>
                </a:solidFill>
              </a:rPr>
              <a:t>opportunity</a:t>
            </a:r>
            <a:r>
              <a:rPr lang="en" sz="1200">
                <a:solidFill>
                  <a:schemeClr val="dk1"/>
                </a:solidFill>
              </a:rPr>
              <a:t> and income, jobs with machinery mechanics and physical therapy assistant have moderate demand with noticeably higher wages compared to other non degree occupations. 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83" name="Google Shape;183;g3db3536d7ea_2_171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db3536d7ea_2_15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8" name="Google Shape;198;g3db3536d7ea_2_157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lang="en" sz="1200">
                <a:solidFill>
                  <a:schemeClr val="dk1"/>
                </a:solidFill>
              </a:rPr>
              <a:t>Tech job growth is concentrated in high-skill analytical roles like software developers, System managers, Management analysts, </a:t>
            </a:r>
            <a:endParaRPr sz="12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 sz="1200">
                <a:solidFill>
                  <a:schemeClr val="dk1"/>
                </a:solidFill>
              </a:rPr>
              <a:t>I am seeing a trend here where multiple jobs with analyst attached to it makes it to the top 10</a:t>
            </a:r>
            <a:endParaRPr sz="12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 sz="1200">
                <a:solidFill>
                  <a:schemeClr val="dk1"/>
                </a:solidFill>
              </a:rPr>
              <a:t>W</a:t>
            </a:r>
            <a:r>
              <a:rPr lang="en" sz="1200">
                <a:solidFill>
                  <a:schemeClr val="dk1"/>
                </a:solidFill>
              </a:rPr>
              <a:t>e can see that lot of data driven jobs made it to the list, Business nowadays heavily rely of user data to make decisions</a:t>
            </a:r>
            <a:endParaRPr sz="12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And even AI systems itself requires data expertises which can explain  why companies need people who can interpret information</a:t>
            </a:r>
            <a:endParaRPr sz="12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 sz="1200">
                <a:solidFill>
                  <a:schemeClr val="dk1"/>
                </a:solidFill>
              </a:rPr>
              <a:t>Security remain very critical when we are dealing with important data as technologies adapt and grow so its good to see security analyst make the list as well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99" name="Google Shape;199;g3db3536d7ea_2_157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dba85cfcc9_1_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4" name="Google Shape;214;g3dba85cfcc9_1_19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lang="en" sz="1200">
                <a:solidFill>
                  <a:schemeClr val="dk1"/>
                </a:solidFill>
              </a:rPr>
              <a:t>The tech jobs are growing but not all are safe and Being in a tech job doesn’t automatically </a:t>
            </a:r>
            <a:r>
              <a:rPr lang="en" sz="1200">
                <a:solidFill>
                  <a:schemeClr val="dk1"/>
                </a:solidFill>
              </a:rPr>
              <a:t>guarantee</a:t>
            </a:r>
            <a:r>
              <a:rPr lang="en" sz="1200">
                <a:solidFill>
                  <a:schemeClr val="dk1"/>
                </a:solidFill>
              </a:rPr>
              <a:t> job security</a:t>
            </a:r>
            <a:endParaRPr sz="12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 sz="1200">
                <a:solidFill>
                  <a:schemeClr val="dk1"/>
                </a:solidFill>
              </a:rPr>
              <a:t>If we look at the top, data key entry job it is at most risk,</a:t>
            </a:r>
            <a:endParaRPr sz="12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this type of job is repetitive and rule based and easy for companies to automate, these days AI can easily extract, organize and process information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 sz="1200">
                <a:solidFill>
                  <a:schemeClr val="dk1"/>
                </a:solidFill>
              </a:rPr>
              <a:t>Similarly</a:t>
            </a:r>
            <a:r>
              <a:rPr lang="en" sz="1200">
                <a:solidFill>
                  <a:schemeClr val="dk1"/>
                </a:solidFill>
              </a:rPr>
              <a:t>, customer supports roles are changing and now are handled by chatbots and </a:t>
            </a:r>
            <a:r>
              <a:rPr lang="en" sz="1200">
                <a:solidFill>
                  <a:schemeClr val="dk1"/>
                </a:solidFill>
              </a:rPr>
              <a:t>virtual</a:t>
            </a:r>
            <a:r>
              <a:rPr lang="en" sz="1200">
                <a:solidFill>
                  <a:schemeClr val="dk1"/>
                </a:solidFill>
              </a:rPr>
              <a:t> assistants.</a:t>
            </a:r>
            <a:endParaRPr sz="12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 sz="1200">
                <a:solidFill>
                  <a:schemeClr val="dk1"/>
                </a:solidFill>
              </a:rPr>
              <a:t>Good thing is AI often automates </a:t>
            </a:r>
            <a:r>
              <a:rPr lang="en" sz="1200">
                <a:solidFill>
                  <a:schemeClr val="dk1"/>
                </a:solidFill>
              </a:rPr>
              <a:t>a portion</a:t>
            </a:r>
            <a:r>
              <a:rPr lang="en" sz="1200">
                <a:solidFill>
                  <a:schemeClr val="dk1"/>
                </a:solidFill>
              </a:rPr>
              <a:t> of role than taking completely over it…. so shifting towards roles that need oversight and strategy  can make you more marketable. 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15" name="Google Shape;215;g3dba85cfcc9_1_19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db3536d7ea_2_9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0" name="Google Shape;230;g3db3536d7ea_2_99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>
                <a:solidFill>
                  <a:schemeClr val="dk1"/>
                </a:solidFill>
              </a:rPr>
              <a:t>The future of workforce depends on how quickly workers and industries adapt.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>
                <a:solidFill>
                  <a:schemeClr val="dk1"/>
                </a:solidFill>
              </a:rPr>
              <a:t>Jobs with repetitive and predictable tasks faces the bigger risk of automation, workers involved in these jobs might need reskilling.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>
                <a:solidFill>
                  <a:schemeClr val="dk1"/>
                </a:solidFill>
              </a:rPr>
              <a:t>The future workforce will rely both on advanced technology skill and human centered services.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>
                <a:solidFill>
                  <a:schemeClr val="dk1"/>
                </a:solidFill>
              </a:rPr>
              <a:t>The best job opportunity for non degree are concentrated in care and skilled workers.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>
                <a:solidFill>
                  <a:schemeClr val="dk1"/>
                </a:solidFill>
              </a:rPr>
              <a:t>The growth in Tech jobs shows demand in development, analytic and infrastructure roles while routine based task that are easy to automate are declining.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b="1" sz="1400">
              <a:solidFill>
                <a:srgbClr val="1A1A2E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b="1" sz="1400">
              <a:solidFill>
                <a:srgbClr val="1A1A2E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Trebuchet MS"/>
              <a:buNone/>
            </a:pPr>
            <a:r>
              <a:t/>
            </a:r>
            <a:endParaRPr b="1" sz="1400">
              <a:solidFill>
                <a:srgbClr val="1A1A2E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31" name="Google Shape;231;g3db3536d7ea_2_99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db3536d7ea_2_2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1" name="Google Shape;261;g3db3536d7ea_2_220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g3db3536d7ea_2_220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532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/>
          <p:nvPr/>
        </p:nvSpPr>
        <p:spPr>
          <a:xfrm>
            <a:off x="0" y="0"/>
            <a:ext cx="201300" cy="51435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4"/>
          <p:cNvSpPr/>
          <p:nvPr/>
        </p:nvSpPr>
        <p:spPr>
          <a:xfrm>
            <a:off x="6083950" y="73125"/>
            <a:ext cx="2933700" cy="2743200"/>
          </a:xfrm>
          <a:prstGeom prst="ellipse">
            <a:avLst/>
          </a:prstGeom>
          <a:solidFill>
            <a:srgbClr val="263040"/>
          </a:solidFill>
          <a:ln cap="flat" cmpd="sng" w="12700">
            <a:solidFill>
              <a:srgbClr val="263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4"/>
          <p:cNvSpPr/>
          <p:nvPr/>
        </p:nvSpPr>
        <p:spPr>
          <a:xfrm>
            <a:off x="7558175" y="73120"/>
            <a:ext cx="1645800" cy="1645800"/>
          </a:xfrm>
          <a:prstGeom prst="ellipse">
            <a:avLst/>
          </a:prstGeom>
          <a:solidFill>
            <a:srgbClr val="0891B2">
              <a:alpha val="20000"/>
            </a:srgbClr>
          </a:solidFill>
          <a:ln cap="flat" cmpd="sng" w="12700">
            <a:solidFill>
              <a:srgbClr val="0891B2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4"/>
          <p:cNvSpPr/>
          <p:nvPr/>
        </p:nvSpPr>
        <p:spPr>
          <a:xfrm>
            <a:off x="251375" y="1872300"/>
            <a:ext cx="6411600" cy="63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2200"/>
              <a:buFont typeface="Calibri"/>
              <a:buNone/>
            </a:pPr>
            <a:r>
              <a:rPr b="1" i="1" lang="en" sz="2200">
                <a:solidFill>
                  <a:srgbClr val="E69138"/>
                </a:solidFill>
                <a:latin typeface="Calibri"/>
                <a:ea typeface="Calibri"/>
                <a:cs typeface="Calibri"/>
                <a:sym typeface="Calibri"/>
              </a:rPr>
              <a:t>Picking a Career that </a:t>
            </a:r>
            <a:r>
              <a:rPr b="1" i="1" lang="en" sz="2200">
                <a:solidFill>
                  <a:srgbClr val="E69138"/>
                </a:solidFill>
                <a:latin typeface="Calibri"/>
                <a:ea typeface="Calibri"/>
                <a:cs typeface="Calibri"/>
                <a:sym typeface="Calibri"/>
              </a:rPr>
              <a:t>Artificial</a:t>
            </a:r>
            <a:r>
              <a:rPr b="1" i="1" lang="en" sz="2200">
                <a:solidFill>
                  <a:srgbClr val="E69138"/>
                </a:solidFill>
                <a:latin typeface="Calibri"/>
                <a:ea typeface="Calibri"/>
                <a:cs typeface="Calibri"/>
                <a:sym typeface="Calibri"/>
              </a:rPr>
              <a:t> Intelligence won’t Take</a:t>
            </a:r>
            <a:endParaRPr b="1" i="0" sz="2200" u="none" cap="none" strike="noStrike">
              <a:solidFill>
                <a:srgbClr val="E691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4"/>
          <p:cNvSpPr/>
          <p:nvPr/>
        </p:nvSpPr>
        <p:spPr>
          <a:xfrm>
            <a:off x="251375" y="4711650"/>
            <a:ext cx="71544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en" sz="1200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Presented By :</a:t>
            </a:r>
            <a:r>
              <a:rPr lang="en" sz="1200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200">
                <a:solidFill>
                  <a:srgbClr val="DDE1E9"/>
                </a:solidFill>
                <a:latin typeface="Calibri"/>
                <a:ea typeface="Calibri"/>
                <a:cs typeface="Calibri"/>
                <a:sym typeface="Calibri"/>
              </a:rPr>
              <a:t>Pinal Dalwadi, Shristi Pokharel &amp; Joel Wheatley</a:t>
            </a:r>
            <a:endParaRPr>
              <a:solidFill>
                <a:srgbClr val="DDE1E9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100"/>
              <a:buFont typeface="Calibri"/>
              <a:buNone/>
            </a:pPr>
            <a:r>
              <a:rPr b="1" i="0" lang="en" sz="12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Datasets:</a:t>
            </a:r>
            <a:r>
              <a:rPr b="1" i="0" lang="en" sz="11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1100" u="none" cap="none" strike="noStrike">
                <a:solidFill>
                  <a:srgbClr val="DDE1E9"/>
                </a:solidFill>
                <a:latin typeface="Calibri"/>
                <a:ea typeface="Calibri"/>
                <a:cs typeface="Calibri"/>
                <a:sym typeface="Calibri"/>
              </a:rPr>
              <a:t>BLS Employment Projections 2024–2034  ·  BLS OEWS 2024  ·  Oxford/Frey-Osborne Automation Scores</a:t>
            </a:r>
            <a:endParaRPr b="0" i="0" sz="1100" u="none" cap="none" strike="noStrike">
              <a:solidFill>
                <a:srgbClr val="DDE1E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9000" y="245051"/>
            <a:ext cx="3858400" cy="25712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62" name="Google Shape;62;p14"/>
          <p:cNvSpPr/>
          <p:nvPr/>
        </p:nvSpPr>
        <p:spPr>
          <a:xfrm>
            <a:off x="251375" y="651422"/>
            <a:ext cx="83832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Trebuchet MS"/>
              <a:buNone/>
            </a:pPr>
            <a:r>
              <a:rPr b="1" lang="en"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Future Proofing for AI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1E2532"/>
          </a:solidFill>
          <a:ln cap="flat" cmpd="sng" w="12700">
            <a:solidFill>
              <a:srgbClr val="1E25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0" y="0"/>
            <a:ext cx="164700" cy="51435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320040" y="54864"/>
            <a:ext cx="2286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900"/>
              <a:buFont typeface="Calibri"/>
              <a:buNone/>
            </a:pPr>
            <a:r>
              <a:rPr b="1" lang="en" sz="1600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KPIs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320040" y="347472"/>
            <a:ext cx="85953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lang="en" sz="2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AI Workforce shift has begun..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365760" y="1005840"/>
            <a:ext cx="2651700" cy="3291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365760" y="1005840"/>
            <a:ext cx="2651700" cy="63900"/>
          </a:xfrm>
          <a:prstGeom prst="rect">
            <a:avLst/>
          </a:prstGeom>
          <a:solidFill>
            <a:srgbClr val="198754"/>
          </a:solidFill>
          <a:ln cap="flat" cmpd="sng" w="12700">
            <a:solidFill>
              <a:srgbClr val="1987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457200" y="1234440"/>
            <a:ext cx="24690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8754"/>
              </a:buClr>
              <a:buSzPts val="5200"/>
              <a:buFont typeface="Trebuchet MS"/>
              <a:buNone/>
            </a:pPr>
            <a:r>
              <a:rPr b="1" lang="en" sz="5200">
                <a:solidFill>
                  <a:srgbClr val="198754"/>
                </a:solidFill>
                <a:latin typeface="Trebuchet MS"/>
                <a:ea typeface="Trebuchet MS"/>
                <a:cs typeface="Trebuchet MS"/>
                <a:sym typeface="Trebuchet MS"/>
              </a:rPr>
              <a:t>10.4 M</a:t>
            </a:r>
            <a:endParaRPr b="1" sz="5200">
              <a:solidFill>
                <a:srgbClr val="198754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502920" y="2651760"/>
            <a:ext cx="23775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8499"/>
              </a:buClr>
              <a:buSzPts val="1300"/>
              <a:buFont typeface="Calibri"/>
              <a:buNone/>
            </a:pPr>
            <a:r>
              <a:rPr lang="en" sz="1300">
                <a:solidFill>
                  <a:srgbClr val="7A8499"/>
                </a:solidFill>
                <a:latin typeface="Calibri"/>
                <a:ea typeface="Calibri"/>
                <a:cs typeface="Calibri"/>
                <a:sym typeface="Calibri"/>
              </a:rPr>
              <a:t>Estimated job loss to AI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3291840" y="1005840"/>
            <a:ext cx="2651700" cy="3291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3291840" y="1005840"/>
            <a:ext cx="2651700" cy="63900"/>
          </a:xfrm>
          <a:prstGeom prst="rect">
            <a:avLst/>
          </a:prstGeom>
          <a:solidFill>
            <a:srgbClr val="DC3545"/>
          </a:solidFill>
          <a:ln cap="flat" cmpd="sng" w="12700">
            <a:solidFill>
              <a:srgbClr val="DC3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3383280" y="1234440"/>
            <a:ext cx="24690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3545"/>
              </a:buClr>
              <a:buSzPts val="5200"/>
              <a:buFont typeface="Trebuchet MS"/>
              <a:buNone/>
            </a:pPr>
            <a:r>
              <a:rPr b="1" lang="en" sz="5200">
                <a:solidFill>
                  <a:srgbClr val="DC3545"/>
                </a:solidFill>
                <a:latin typeface="Trebuchet MS"/>
                <a:ea typeface="Trebuchet MS"/>
                <a:cs typeface="Trebuchet MS"/>
                <a:sym typeface="Trebuchet MS"/>
              </a:rPr>
              <a:t>20%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3429000" y="2651760"/>
            <a:ext cx="23775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8499"/>
              </a:buClr>
              <a:buSzPts val="1300"/>
              <a:buFont typeface="Calibri"/>
              <a:buNone/>
            </a:pPr>
            <a:r>
              <a:rPr lang="en" sz="1300">
                <a:solidFill>
                  <a:srgbClr val="7A8499"/>
                </a:solidFill>
                <a:latin typeface="Calibri"/>
                <a:ea typeface="Calibri"/>
                <a:cs typeface="Calibri"/>
                <a:sym typeface="Calibri"/>
              </a:rPr>
              <a:t>Jobs Heavily Influenced by AI</a:t>
            </a:r>
            <a:endParaRPr sz="1300">
              <a:solidFill>
                <a:srgbClr val="7A84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8499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rgbClr val="7A84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6217920" y="1005840"/>
            <a:ext cx="2651700" cy="3291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6217920" y="1005840"/>
            <a:ext cx="2651700" cy="639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6309360" y="1234440"/>
            <a:ext cx="24690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5200"/>
              <a:buFont typeface="Trebuchet MS"/>
              <a:buNone/>
            </a:pPr>
            <a:r>
              <a:rPr b="1" lang="en" sz="5200">
                <a:solidFill>
                  <a:srgbClr val="0891B2"/>
                </a:solidFill>
                <a:latin typeface="Trebuchet MS"/>
                <a:ea typeface="Trebuchet MS"/>
                <a:cs typeface="Trebuchet MS"/>
                <a:sym typeface="Trebuchet MS"/>
              </a:rPr>
              <a:t>25%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6355080" y="2651760"/>
            <a:ext cx="23775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8499"/>
              </a:buClr>
              <a:buSzPts val="1300"/>
              <a:buFont typeface="Calibri"/>
              <a:buNone/>
            </a:pPr>
            <a:r>
              <a:rPr lang="en" sz="1300">
                <a:solidFill>
                  <a:srgbClr val="7A8499"/>
                </a:solidFill>
                <a:latin typeface="Calibri"/>
                <a:ea typeface="Calibri"/>
                <a:cs typeface="Calibri"/>
                <a:sym typeface="Calibri"/>
              </a:rPr>
              <a:t>Percentage of Work Estimated to be Automated by AI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8499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5"/>
          <p:cNvSpPr/>
          <p:nvPr/>
        </p:nvSpPr>
        <p:spPr>
          <a:xfrm>
            <a:off x="365760" y="4434840"/>
            <a:ext cx="8412600" cy="347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5"/>
          <p:cNvSpPr/>
          <p:nvPr/>
        </p:nvSpPr>
        <p:spPr>
          <a:xfrm>
            <a:off x="502925" y="4453125"/>
            <a:ext cx="78459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Trebuchet MS"/>
              <a:buNone/>
            </a:pPr>
            <a:r>
              <a:rPr b="1" lang="en" sz="13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AI is expected to reshape millions of jobs across nearly every industry</a:t>
            </a:r>
            <a:endParaRPr i="1"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5"/>
          <p:cNvSpPr/>
          <p:nvPr/>
        </p:nvSpPr>
        <p:spPr>
          <a:xfrm>
            <a:off x="164700" y="4846325"/>
            <a:ext cx="8979300" cy="297300"/>
          </a:xfrm>
          <a:prstGeom prst="rect">
            <a:avLst/>
          </a:prstGeom>
          <a:solidFill>
            <a:srgbClr val="1E2532"/>
          </a:solidFill>
          <a:ln cap="flat" cmpd="sng" w="12700">
            <a:solidFill>
              <a:srgbClr val="1E25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5"/>
          <p:cNvSpPr/>
          <p:nvPr/>
        </p:nvSpPr>
        <p:spPr>
          <a:xfrm>
            <a:off x="228175" y="4898583"/>
            <a:ext cx="7131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8499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F7F8FA"/>
                </a:solidFill>
                <a:latin typeface="Calibri"/>
                <a:ea typeface="Calibri"/>
                <a:cs typeface="Calibri"/>
                <a:sym typeface="Calibri"/>
              </a:rPr>
              <a:t>Sources: Goldman Sachs</a:t>
            </a:r>
            <a:r>
              <a:rPr lang="en" sz="850">
                <a:solidFill>
                  <a:srgbClr val="F7F8FA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" sz="850" u="none" cap="none" strike="noStrike">
                <a:solidFill>
                  <a:srgbClr val="F7F8FA"/>
                </a:solidFill>
                <a:latin typeface="Calibri"/>
                <a:ea typeface="Calibri"/>
                <a:cs typeface="Calibri"/>
                <a:sym typeface="Calibri"/>
              </a:rPr>
              <a:t> How Will AI Affect the US Labor Market?, Forrester</a:t>
            </a:r>
            <a:r>
              <a:rPr lang="en" sz="850">
                <a:solidFill>
                  <a:srgbClr val="F7F8FA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" sz="850" u="none" cap="none" strike="noStrike">
                <a:solidFill>
                  <a:srgbClr val="F7F8FA"/>
                </a:solidFill>
                <a:latin typeface="Calibri"/>
                <a:ea typeface="Calibri"/>
                <a:cs typeface="Calibri"/>
                <a:sym typeface="Calibri"/>
              </a:rPr>
              <a:t> AI and Automation Will Take 6% of US Jobs by 2030</a:t>
            </a:r>
            <a:endParaRPr sz="850">
              <a:solidFill>
                <a:srgbClr val="F7F8F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8499"/>
              </a:buClr>
              <a:buSzPts val="850"/>
              <a:buFont typeface="Calibri"/>
              <a:buNone/>
            </a:pPr>
            <a:r>
              <a:t/>
            </a:r>
            <a:endParaRPr sz="850">
              <a:solidFill>
                <a:srgbClr val="F7F8F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5"/>
          <p:cNvSpPr/>
          <p:nvPr/>
        </p:nvSpPr>
        <p:spPr>
          <a:xfrm>
            <a:off x="6355073" y="4864600"/>
            <a:ext cx="2560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8499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Automation Wave  |  </a:t>
            </a:r>
            <a:r>
              <a:rPr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613</a:t>
            </a:r>
            <a:endParaRPr b="0" i="0" sz="8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532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/>
          <p:nvPr/>
        </p:nvSpPr>
        <p:spPr>
          <a:xfrm>
            <a:off x="0" y="0"/>
            <a:ext cx="201300" cy="51435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411479" y="167325"/>
            <a:ext cx="2430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000"/>
              <a:buFont typeface="Calibri"/>
              <a:buNone/>
            </a:pPr>
            <a:r>
              <a:rPr b="1" i="0" lang="en" sz="16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OUR CENTRAL QUESTION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411425" y="487175"/>
            <a:ext cx="8412600" cy="7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 a world where AI is</a:t>
            </a:r>
            <a:r>
              <a:rPr b="1"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automating millions of tasks</a:t>
            </a:r>
            <a:r>
              <a:rPr b="1" lang="en" sz="2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b="1" i="0" lang="en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who should be worried,</a:t>
            </a:r>
            <a:r>
              <a:rPr b="1"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and who should be excited?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503089" y="2239905"/>
            <a:ext cx="255900" cy="2559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503089" y="2239905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868850" y="2249316"/>
            <a:ext cx="8046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300"/>
              <a:buFont typeface="Calibri"/>
              <a:buNone/>
            </a:pPr>
            <a:r>
              <a:rPr b="1" lang="en" sz="1300">
                <a:solidFill>
                  <a:srgbClr val="DDE1E9"/>
                </a:solidFill>
                <a:latin typeface="Calibri"/>
                <a:ea typeface="Calibri"/>
                <a:cs typeface="Calibri"/>
                <a:sym typeface="Calibri"/>
              </a:rPr>
              <a:t>What do employment projections tell us about the future workforce?</a:t>
            </a:r>
            <a:endParaRPr b="1" sz="1300">
              <a:solidFill>
                <a:srgbClr val="DDE1E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497052" y="3092452"/>
            <a:ext cx="255900" cy="2559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497052" y="3092452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6"/>
          <p:cNvSpPr/>
          <p:nvPr/>
        </p:nvSpPr>
        <p:spPr>
          <a:xfrm>
            <a:off x="862812" y="3074164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300"/>
              <a:buFont typeface="Calibri"/>
              <a:buNone/>
            </a:pPr>
            <a:r>
              <a:rPr b="1" lang="en" sz="1300">
                <a:solidFill>
                  <a:srgbClr val="DDE1E9"/>
                </a:solidFill>
                <a:latin typeface="Calibri"/>
                <a:ea typeface="Calibri"/>
                <a:cs typeface="Calibri"/>
                <a:sym typeface="Calibri"/>
              </a:rPr>
              <a:t>Which Tech Jobs are growing vs. at risk?</a:t>
            </a:r>
            <a:endParaRPr b="1" sz="1300">
              <a:solidFill>
                <a:srgbClr val="DDE1E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6"/>
          <p:cNvSpPr/>
          <p:nvPr/>
        </p:nvSpPr>
        <p:spPr>
          <a:xfrm>
            <a:off x="6588043" y="4864600"/>
            <a:ext cx="2327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8499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The Automation Wave  |  </a:t>
            </a:r>
            <a:r>
              <a:rPr lang="en" sz="85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DATA 613</a:t>
            </a:r>
            <a:endParaRPr b="0" i="0" sz="850" u="none" cap="none" strike="noStrike">
              <a:solidFill>
                <a:srgbClr val="9999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503089" y="2680039"/>
            <a:ext cx="255900" cy="2559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6"/>
          <p:cNvSpPr/>
          <p:nvPr/>
        </p:nvSpPr>
        <p:spPr>
          <a:xfrm>
            <a:off x="503089" y="2680039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868849" y="2661751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300"/>
              <a:buFont typeface="Calibri"/>
              <a:buNone/>
            </a:pPr>
            <a:r>
              <a:rPr b="1" lang="en" sz="1300">
                <a:solidFill>
                  <a:srgbClr val="DDE1E9"/>
                </a:solidFill>
                <a:latin typeface="Calibri"/>
                <a:ea typeface="Calibri"/>
                <a:cs typeface="Calibri"/>
                <a:sym typeface="Calibri"/>
              </a:rPr>
              <a:t>What careers should people without a college degree pursue?</a:t>
            </a:r>
            <a:endParaRPr b="1" i="0" sz="1300" u="none" cap="none" strike="noStrike">
              <a:solidFill>
                <a:srgbClr val="DDE1E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6"/>
          <p:cNvSpPr/>
          <p:nvPr/>
        </p:nvSpPr>
        <p:spPr>
          <a:xfrm>
            <a:off x="503089" y="1740223"/>
            <a:ext cx="255900" cy="2559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6"/>
          <p:cNvSpPr/>
          <p:nvPr/>
        </p:nvSpPr>
        <p:spPr>
          <a:xfrm>
            <a:off x="503089" y="1740223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6"/>
          <p:cNvSpPr/>
          <p:nvPr/>
        </p:nvSpPr>
        <p:spPr>
          <a:xfrm>
            <a:off x="868849" y="1721935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300"/>
              <a:buFont typeface="Calibri"/>
              <a:buNone/>
            </a:pPr>
            <a:r>
              <a:rPr b="1" lang="en" sz="1300">
                <a:solidFill>
                  <a:srgbClr val="DDE1E9"/>
                </a:solidFill>
                <a:latin typeface="Calibri"/>
                <a:ea typeface="Calibri"/>
                <a:cs typeface="Calibri"/>
                <a:sym typeface="Calibri"/>
              </a:rPr>
              <a:t>Which job categories face the highest automation displacement risk? </a:t>
            </a:r>
            <a:endParaRPr b="1" sz="1300">
              <a:solidFill>
                <a:srgbClr val="DDE1E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764936">
            <a:off x="6792450" y="1290900"/>
            <a:ext cx="1681275" cy="3362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532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/>
          <p:nvPr/>
        </p:nvSpPr>
        <p:spPr>
          <a:xfrm>
            <a:off x="0" y="0"/>
            <a:ext cx="201300" cy="51435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365700" y="259300"/>
            <a:ext cx="8412600" cy="7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O</a:t>
            </a:r>
            <a:r>
              <a:rPr b="1" lang="en" sz="2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ur Methods of Measure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7"/>
          <p:cNvSpPr/>
          <p:nvPr/>
        </p:nvSpPr>
        <p:spPr>
          <a:xfrm>
            <a:off x="954265" y="1420972"/>
            <a:ext cx="255900" cy="2559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7"/>
          <p:cNvSpPr/>
          <p:nvPr/>
        </p:nvSpPr>
        <p:spPr>
          <a:xfrm>
            <a:off x="954265" y="1420972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1320025" y="1402684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300"/>
              <a:buFont typeface="Calibri"/>
              <a:buNone/>
            </a:pPr>
            <a:r>
              <a:rPr b="1" lang="en" sz="1500">
                <a:solidFill>
                  <a:srgbClr val="DDE1E9"/>
                </a:solidFill>
                <a:latin typeface="Calibri"/>
                <a:ea typeface="Calibri"/>
                <a:cs typeface="Calibri"/>
                <a:sym typeface="Calibri"/>
              </a:rPr>
              <a:t>Total Job Growth / Loss</a:t>
            </a:r>
            <a:endParaRPr b="1" i="0" sz="1500" u="none" cap="none" strike="noStrike">
              <a:solidFill>
                <a:srgbClr val="DDE1E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7"/>
          <p:cNvSpPr/>
          <p:nvPr/>
        </p:nvSpPr>
        <p:spPr>
          <a:xfrm>
            <a:off x="944339" y="2417080"/>
            <a:ext cx="255900" cy="2559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7"/>
          <p:cNvSpPr/>
          <p:nvPr/>
        </p:nvSpPr>
        <p:spPr>
          <a:xfrm>
            <a:off x="944339" y="2443805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7"/>
          <p:cNvSpPr/>
          <p:nvPr/>
        </p:nvSpPr>
        <p:spPr>
          <a:xfrm>
            <a:off x="1320025" y="2307275"/>
            <a:ext cx="7347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300"/>
              <a:buFont typeface="Calibri"/>
              <a:buNone/>
            </a:pPr>
            <a:r>
              <a:rPr b="1" lang="en" sz="1500">
                <a:solidFill>
                  <a:srgbClr val="DDE1E9"/>
                </a:solidFill>
                <a:latin typeface="Calibri"/>
                <a:ea typeface="Calibri"/>
                <a:cs typeface="Calibri"/>
                <a:sym typeface="Calibri"/>
              </a:rPr>
              <a:t>Opportunity Score</a:t>
            </a:r>
            <a:r>
              <a:rPr b="1" lang="en" sz="1300">
                <a:solidFill>
                  <a:srgbClr val="DDE1E9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b="1" lang="en" sz="1100">
                <a:solidFill>
                  <a:srgbClr val="DDE1E9"/>
                </a:solidFill>
                <a:latin typeface="Calibri"/>
                <a:ea typeface="Calibri"/>
                <a:cs typeface="Calibri"/>
                <a:sym typeface="Calibri"/>
              </a:rPr>
              <a:t>Weighted measure of growth, growth rate, and </a:t>
            </a:r>
            <a:r>
              <a:rPr b="1" lang="en" sz="1100">
                <a:solidFill>
                  <a:srgbClr val="DDE1E9"/>
                </a:solidFill>
                <a:latin typeface="Calibri"/>
                <a:ea typeface="Calibri"/>
                <a:cs typeface="Calibri"/>
                <a:sym typeface="Calibri"/>
              </a:rPr>
              <a:t>openings</a:t>
            </a:r>
            <a:r>
              <a:rPr b="1" lang="en" sz="1100">
                <a:solidFill>
                  <a:srgbClr val="DDE1E9"/>
                </a:solidFill>
                <a:latin typeface="Calibri"/>
                <a:ea typeface="Calibri"/>
                <a:cs typeface="Calibri"/>
                <a:sym typeface="Calibri"/>
              </a:rPr>
              <a:t>. 0.22 is low, .31 is average and .4 is high</a:t>
            </a:r>
            <a:endParaRPr b="1" sz="1100">
              <a:solidFill>
                <a:srgbClr val="DDE1E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7"/>
          <p:cNvSpPr/>
          <p:nvPr/>
        </p:nvSpPr>
        <p:spPr>
          <a:xfrm>
            <a:off x="938300" y="4465875"/>
            <a:ext cx="4427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8499"/>
              </a:buClr>
              <a:buSzPts val="850"/>
              <a:buFont typeface="Calibri"/>
              <a:buNone/>
            </a:pPr>
            <a:r>
              <a:t/>
            </a:r>
            <a:endParaRPr b="0" i="0" sz="85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7"/>
          <p:cNvSpPr/>
          <p:nvPr/>
        </p:nvSpPr>
        <p:spPr>
          <a:xfrm>
            <a:off x="6588043" y="4864600"/>
            <a:ext cx="2327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8499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The Automation Wave  |  </a:t>
            </a:r>
            <a:r>
              <a:rPr lang="en" sz="85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DATA 613</a:t>
            </a:r>
            <a:endParaRPr b="0" i="0" sz="850" u="none" cap="none" strike="noStrike">
              <a:solidFill>
                <a:srgbClr val="9999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7"/>
          <p:cNvSpPr/>
          <p:nvPr/>
        </p:nvSpPr>
        <p:spPr>
          <a:xfrm>
            <a:off x="944339" y="2908980"/>
            <a:ext cx="255900" cy="2559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7"/>
          <p:cNvSpPr/>
          <p:nvPr/>
        </p:nvSpPr>
        <p:spPr>
          <a:xfrm>
            <a:off x="944339" y="2908980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7"/>
          <p:cNvSpPr/>
          <p:nvPr/>
        </p:nvSpPr>
        <p:spPr>
          <a:xfrm>
            <a:off x="1320024" y="2864455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300"/>
              <a:buFont typeface="Calibri"/>
              <a:buNone/>
            </a:pPr>
            <a:r>
              <a:rPr b="1" lang="en" sz="1500">
                <a:solidFill>
                  <a:srgbClr val="DDE1E9"/>
                </a:solidFill>
                <a:latin typeface="Calibri"/>
                <a:ea typeface="Calibri"/>
                <a:cs typeface="Calibri"/>
                <a:sym typeface="Calibri"/>
              </a:rPr>
              <a:t>Osborne-Frey Automation Risk Score</a:t>
            </a:r>
            <a:r>
              <a:rPr b="1" lang="en" sz="1300">
                <a:solidFill>
                  <a:srgbClr val="DDE1E9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b="1" lang="en" sz="1100">
                <a:solidFill>
                  <a:srgbClr val="DDE1E9"/>
                </a:solidFill>
                <a:latin typeface="Calibri"/>
                <a:ea typeface="Calibri"/>
                <a:cs typeface="Calibri"/>
                <a:sym typeface="Calibri"/>
              </a:rPr>
              <a:t>High risk above 0.7, low risk below 0.3</a:t>
            </a:r>
            <a:endParaRPr b="1" sz="1100">
              <a:solidFill>
                <a:srgbClr val="DDE1E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7"/>
          <p:cNvSpPr/>
          <p:nvPr/>
        </p:nvSpPr>
        <p:spPr>
          <a:xfrm>
            <a:off x="944339" y="1917398"/>
            <a:ext cx="255900" cy="2559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944339" y="1917398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/>
          <p:nvPr/>
        </p:nvSpPr>
        <p:spPr>
          <a:xfrm>
            <a:off x="1310099" y="1899110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300"/>
              <a:buFont typeface="Calibri"/>
              <a:buNone/>
            </a:pPr>
            <a:r>
              <a:rPr b="1" lang="en" sz="1500">
                <a:solidFill>
                  <a:srgbClr val="DDE1E9"/>
                </a:solidFill>
                <a:latin typeface="Calibri"/>
                <a:ea typeface="Calibri"/>
                <a:cs typeface="Calibri"/>
                <a:sym typeface="Calibri"/>
              </a:rPr>
              <a:t>Median Income</a:t>
            </a:r>
            <a:endParaRPr b="1" sz="1500">
              <a:solidFill>
                <a:srgbClr val="DDE1E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/>
          <p:nvPr/>
        </p:nvSpPr>
        <p:spPr>
          <a:xfrm>
            <a:off x="0" y="0"/>
            <a:ext cx="9144000" cy="619200"/>
          </a:xfrm>
          <a:prstGeom prst="rect">
            <a:avLst/>
          </a:prstGeom>
          <a:solidFill>
            <a:srgbClr val="1E2532"/>
          </a:solidFill>
          <a:ln cap="flat" cmpd="sng" w="12700">
            <a:solidFill>
              <a:srgbClr val="1E25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0" y="0"/>
            <a:ext cx="470700" cy="619200"/>
          </a:xfrm>
          <a:prstGeom prst="rect">
            <a:avLst/>
          </a:prstGeom>
          <a:solidFill>
            <a:schemeClr val="accent5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88241" y="211664"/>
            <a:ext cx="3216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000"/>
              <a:buFont typeface="Calibri"/>
              <a:buNone/>
            </a:pPr>
            <a:r>
              <a:rPr b="1" lang="en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900"/>
              <a:buFont typeface="Calibri"/>
              <a:buNone/>
            </a:pPr>
            <a:r>
              <a:t/>
            </a:r>
            <a:endParaRPr b="1" sz="900">
              <a:solidFill>
                <a:srgbClr val="0891B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8"/>
          <p:cNvSpPr/>
          <p:nvPr/>
        </p:nvSpPr>
        <p:spPr>
          <a:xfrm>
            <a:off x="539100" y="159645"/>
            <a:ext cx="85026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rebuchet MS"/>
              <a:buNone/>
            </a:pPr>
            <a:r>
              <a:rPr lang="en" sz="2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Which job categories face the highest automation displacement risk?</a:t>
            </a:r>
            <a:endParaRPr sz="20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1" name="Google Shape;141;p18"/>
          <p:cNvSpPr/>
          <p:nvPr/>
        </p:nvSpPr>
        <p:spPr>
          <a:xfrm>
            <a:off x="0" y="4339831"/>
            <a:ext cx="9144000" cy="486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06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-1" y="4347934"/>
            <a:ext cx="63900" cy="4869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217125" y="4514600"/>
            <a:ext cx="85428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Trebuchet MS"/>
              <a:buNone/>
            </a:pPr>
            <a:r>
              <a:rPr b="1" lang="en" sz="1200">
                <a:solidFill>
                  <a:srgbClr val="1A1A2E"/>
                </a:solidFill>
                <a:latin typeface="Average"/>
                <a:ea typeface="Average"/>
                <a:cs typeface="Average"/>
                <a:sym typeface="Average"/>
              </a:rPr>
              <a:t>Jobs with repetitive and predictable tasks faces the bigger risk of automation, workers involved in these jobs might need </a:t>
            </a:r>
            <a:r>
              <a:rPr b="1" lang="en" sz="1200">
                <a:solidFill>
                  <a:srgbClr val="1A1A2E"/>
                </a:solidFill>
                <a:latin typeface="Average"/>
                <a:ea typeface="Average"/>
                <a:cs typeface="Average"/>
                <a:sym typeface="Average"/>
              </a:rPr>
              <a:t>reskilling</a:t>
            </a:r>
            <a:r>
              <a:rPr b="1" lang="en" sz="1200">
                <a:solidFill>
                  <a:srgbClr val="1A1A2E"/>
                </a:solidFill>
                <a:latin typeface="Average"/>
                <a:ea typeface="Average"/>
                <a:cs typeface="Average"/>
                <a:sym typeface="Average"/>
              </a:rPr>
              <a:t>. </a:t>
            </a:r>
            <a:endParaRPr b="1" sz="1200">
              <a:solidFill>
                <a:srgbClr val="1A1A2E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Trebuchet MS"/>
              <a:buNone/>
            </a:pPr>
            <a:r>
              <a:t/>
            </a:r>
            <a:endParaRPr b="1" sz="1300">
              <a:solidFill>
                <a:srgbClr val="1A1A2E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0" y="4846320"/>
            <a:ext cx="9144000" cy="297300"/>
          </a:xfrm>
          <a:prstGeom prst="rect">
            <a:avLst/>
          </a:prstGeom>
          <a:solidFill>
            <a:srgbClr val="DDE1E9"/>
          </a:solidFill>
          <a:ln cap="flat" cmpd="sng" w="12700">
            <a:solidFill>
              <a:srgbClr val="DDE1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88250" y="4900758"/>
            <a:ext cx="71181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8499"/>
              </a:buClr>
              <a:buSzPts val="850"/>
              <a:buFont typeface="Calibri"/>
              <a:buNone/>
            </a:pPr>
            <a:r>
              <a:rPr lang="en" sz="85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Source: BLS Employment Projections 2024–2034, BLS OEWS 2024, Oxford/Frey-Osborne Automation Scores</a:t>
            </a:r>
            <a:endParaRPr sz="85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8499"/>
              </a:buClr>
              <a:buSzPts val="850"/>
              <a:buFont typeface="Calibri"/>
              <a:buNone/>
            </a:pPr>
            <a:r>
              <a:t/>
            </a:r>
            <a:endParaRPr sz="85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8"/>
          <p:cNvSpPr/>
          <p:nvPr/>
        </p:nvSpPr>
        <p:spPr>
          <a:xfrm>
            <a:off x="7332600" y="4863225"/>
            <a:ext cx="1709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8499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The Automation Wave  |  </a:t>
            </a:r>
            <a:r>
              <a:rPr lang="en" sz="85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DATA 613</a:t>
            </a:r>
            <a:endParaRPr b="0" i="0" sz="85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" name="Google Shape;147;p18" title="Industries_Most_at_Risk_of_Automation_Displacem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1500" y="672250"/>
            <a:ext cx="7199125" cy="3614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9"/>
          <p:cNvSpPr/>
          <p:nvPr/>
        </p:nvSpPr>
        <p:spPr>
          <a:xfrm>
            <a:off x="0" y="0"/>
            <a:ext cx="9144000" cy="619200"/>
          </a:xfrm>
          <a:prstGeom prst="rect">
            <a:avLst/>
          </a:prstGeom>
          <a:solidFill>
            <a:srgbClr val="1E2532"/>
          </a:solidFill>
          <a:ln cap="flat" cmpd="sng" w="12700">
            <a:solidFill>
              <a:srgbClr val="1E25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9"/>
          <p:cNvSpPr/>
          <p:nvPr/>
        </p:nvSpPr>
        <p:spPr>
          <a:xfrm>
            <a:off x="0" y="0"/>
            <a:ext cx="470700" cy="619200"/>
          </a:xfrm>
          <a:prstGeom prst="rect">
            <a:avLst/>
          </a:prstGeom>
          <a:solidFill>
            <a:schemeClr val="accent5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9"/>
          <p:cNvSpPr/>
          <p:nvPr/>
        </p:nvSpPr>
        <p:spPr>
          <a:xfrm>
            <a:off x="88241" y="211664"/>
            <a:ext cx="3216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000"/>
              <a:buFont typeface="Calibri"/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900"/>
              <a:buFont typeface="Calibri"/>
              <a:buNone/>
            </a:pPr>
            <a:r>
              <a:t/>
            </a:r>
            <a:endParaRPr b="1" sz="900">
              <a:solidFill>
                <a:srgbClr val="0891B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9"/>
          <p:cNvSpPr/>
          <p:nvPr/>
        </p:nvSpPr>
        <p:spPr>
          <a:xfrm>
            <a:off x="539100" y="159645"/>
            <a:ext cx="85026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rebuchet MS"/>
              <a:buNone/>
            </a:pPr>
            <a:r>
              <a:rPr lang="en" sz="2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AI wage Inequality</a:t>
            </a:r>
            <a:endParaRPr sz="20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7" name="Google Shape;157;p19"/>
          <p:cNvSpPr/>
          <p:nvPr/>
        </p:nvSpPr>
        <p:spPr>
          <a:xfrm>
            <a:off x="0" y="4339831"/>
            <a:ext cx="9144000" cy="486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06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9"/>
          <p:cNvSpPr/>
          <p:nvPr/>
        </p:nvSpPr>
        <p:spPr>
          <a:xfrm>
            <a:off x="-1" y="4347934"/>
            <a:ext cx="63900" cy="4869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9"/>
          <p:cNvSpPr/>
          <p:nvPr/>
        </p:nvSpPr>
        <p:spPr>
          <a:xfrm>
            <a:off x="217125" y="4514600"/>
            <a:ext cx="85428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Trebuchet MS"/>
              <a:buNone/>
            </a:pPr>
            <a:r>
              <a:rPr b="1" lang="en" sz="1200">
                <a:solidFill>
                  <a:srgbClr val="1A1A2E"/>
                </a:solidFill>
                <a:latin typeface="Average"/>
                <a:ea typeface="Average"/>
                <a:cs typeface="Average"/>
                <a:sym typeface="Average"/>
              </a:rPr>
              <a:t>AI is widening the wage gap: high-skill, AI-augmented jobs earn 2.5× more than the jobs AI is replacing.</a:t>
            </a:r>
            <a:endParaRPr b="1" sz="1200">
              <a:solidFill>
                <a:srgbClr val="1A1A2E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Trebuchet MS"/>
              <a:buNone/>
            </a:pPr>
            <a:r>
              <a:t/>
            </a:r>
            <a:endParaRPr b="1" sz="1300">
              <a:solidFill>
                <a:srgbClr val="1A1A2E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0" y="4846320"/>
            <a:ext cx="9144000" cy="297300"/>
          </a:xfrm>
          <a:prstGeom prst="rect">
            <a:avLst/>
          </a:prstGeom>
          <a:solidFill>
            <a:srgbClr val="DDE1E9"/>
          </a:solidFill>
          <a:ln cap="flat" cmpd="sng" w="12700">
            <a:solidFill>
              <a:srgbClr val="DDE1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9"/>
          <p:cNvSpPr/>
          <p:nvPr/>
        </p:nvSpPr>
        <p:spPr>
          <a:xfrm>
            <a:off x="88250" y="4900758"/>
            <a:ext cx="71181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8499"/>
              </a:buClr>
              <a:buSzPts val="850"/>
              <a:buFont typeface="Calibri"/>
              <a:buNone/>
            </a:pPr>
            <a:r>
              <a:rPr lang="en" sz="85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Source: BLS OEWS 2024 · Oxford/Frey-Osborne Automation Scores · BLS Employment Projections 2024–2034</a:t>
            </a:r>
            <a:endParaRPr sz="85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8499"/>
              </a:buClr>
              <a:buSzPts val="850"/>
              <a:buFont typeface="Calibri"/>
              <a:buNone/>
            </a:pPr>
            <a:r>
              <a:t/>
            </a:r>
            <a:endParaRPr sz="85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9"/>
          <p:cNvSpPr/>
          <p:nvPr/>
        </p:nvSpPr>
        <p:spPr>
          <a:xfrm>
            <a:off x="7332600" y="4863225"/>
            <a:ext cx="1709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8499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The Automation Wave  |  </a:t>
            </a:r>
            <a:r>
              <a:rPr lang="en" sz="85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DATA 613</a:t>
            </a:r>
            <a:endParaRPr b="0" i="0" sz="85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" name="Google Shape;163;p19" title="Chart3_Wage_Impact.png"/>
          <p:cNvPicPr preferRelativeResize="0"/>
          <p:nvPr/>
        </p:nvPicPr>
        <p:blipFill rotWithShape="1">
          <a:blip r:embed="rId3">
            <a:alphaModFix/>
          </a:blip>
          <a:srcRect b="7215" l="0" r="0" t="2825"/>
          <a:stretch/>
        </p:blipFill>
        <p:spPr>
          <a:xfrm>
            <a:off x="1281805" y="675287"/>
            <a:ext cx="6457069" cy="3622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0"/>
          <p:cNvSpPr/>
          <p:nvPr/>
        </p:nvSpPr>
        <p:spPr>
          <a:xfrm>
            <a:off x="0" y="0"/>
            <a:ext cx="9144000" cy="619200"/>
          </a:xfrm>
          <a:prstGeom prst="rect">
            <a:avLst/>
          </a:prstGeom>
          <a:solidFill>
            <a:srgbClr val="1E2532"/>
          </a:solidFill>
          <a:ln cap="flat" cmpd="sng" w="12700">
            <a:solidFill>
              <a:srgbClr val="1E25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0" y="0"/>
            <a:ext cx="470700" cy="619200"/>
          </a:xfrm>
          <a:prstGeom prst="rect">
            <a:avLst/>
          </a:prstGeom>
          <a:solidFill>
            <a:schemeClr val="accent5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88241" y="211664"/>
            <a:ext cx="3216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000"/>
              <a:buFont typeface="Calibri"/>
              <a:buNone/>
            </a:pPr>
            <a:r>
              <a:rPr b="1" lang="en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900"/>
              <a:buFont typeface="Calibri"/>
              <a:buNone/>
            </a:pPr>
            <a:r>
              <a:t/>
            </a:r>
            <a:endParaRPr b="1" sz="900">
              <a:solidFill>
                <a:srgbClr val="0891B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539100" y="159645"/>
            <a:ext cx="85026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rebuchet MS"/>
              <a:buNone/>
            </a:pPr>
            <a:r>
              <a:rPr lang="en" sz="2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What does employment projection tell us about the future workforce?</a:t>
            </a:r>
            <a:endParaRPr sz="20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0" y="4339831"/>
            <a:ext cx="9144000" cy="486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06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-1" y="4347934"/>
            <a:ext cx="63900" cy="4869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164696" y="4389738"/>
            <a:ext cx="8595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Trebuchet MS"/>
              <a:buNone/>
            </a:pPr>
            <a:r>
              <a:rPr b="1" lang="en" sz="13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There are still many jobs expected to grow across a range of skill sets</a:t>
            </a:r>
            <a:endParaRPr b="1" sz="1300">
              <a:solidFill>
                <a:srgbClr val="1A1A2E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0" y="4846320"/>
            <a:ext cx="9144000" cy="297300"/>
          </a:xfrm>
          <a:prstGeom prst="rect">
            <a:avLst/>
          </a:prstGeom>
          <a:solidFill>
            <a:srgbClr val="DDE1E9"/>
          </a:solidFill>
          <a:ln cap="flat" cmpd="sng" w="12700">
            <a:solidFill>
              <a:srgbClr val="DDE1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63900" y="4874700"/>
            <a:ext cx="71424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8499"/>
              </a:buClr>
              <a:buSzPts val="850"/>
              <a:buFont typeface="Calibri"/>
              <a:buNone/>
            </a:pPr>
            <a:r>
              <a:rPr lang="en" sz="85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Source: BLS Employment Projections 2024–2034, BLS OEWS 2024</a:t>
            </a:r>
            <a:endParaRPr sz="85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8499"/>
              </a:buClr>
              <a:buSzPts val="850"/>
              <a:buFont typeface="Calibri"/>
              <a:buNone/>
            </a:pPr>
            <a:r>
              <a:t/>
            </a:r>
            <a:endParaRPr sz="85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7475350" y="4864600"/>
            <a:ext cx="1566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8499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The Automation Wave  |  </a:t>
            </a:r>
            <a:r>
              <a:rPr lang="en" sz="85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DATA 613</a:t>
            </a:r>
            <a:endParaRPr b="0" i="0" sz="85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9" name="Google Shape;179;p20" title="Top_10_Career_Opportuniti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1500" y="650650"/>
            <a:ext cx="7309874" cy="365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"/>
          <p:cNvSpPr/>
          <p:nvPr/>
        </p:nvSpPr>
        <p:spPr>
          <a:xfrm>
            <a:off x="0" y="0"/>
            <a:ext cx="9144000" cy="619200"/>
          </a:xfrm>
          <a:prstGeom prst="rect">
            <a:avLst/>
          </a:prstGeom>
          <a:solidFill>
            <a:srgbClr val="1E2532"/>
          </a:solidFill>
          <a:ln cap="flat" cmpd="sng" w="12700">
            <a:solidFill>
              <a:srgbClr val="1E25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1"/>
          <p:cNvSpPr/>
          <p:nvPr/>
        </p:nvSpPr>
        <p:spPr>
          <a:xfrm>
            <a:off x="0" y="0"/>
            <a:ext cx="470700" cy="619200"/>
          </a:xfrm>
          <a:prstGeom prst="rect">
            <a:avLst/>
          </a:prstGeom>
          <a:solidFill>
            <a:schemeClr val="accent5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1"/>
          <p:cNvSpPr/>
          <p:nvPr/>
        </p:nvSpPr>
        <p:spPr>
          <a:xfrm>
            <a:off x="88241" y="211664"/>
            <a:ext cx="3216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000"/>
              <a:buFont typeface="Calibri"/>
              <a:buNone/>
            </a:pPr>
            <a:r>
              <a:rPr b="1" lang="en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900"/>
              <a:buFont typeface="Calibri"/>
              <a:buNone/>
            </a:pPr>
            <a:r>
              <a:t/>
            </a:r>
            <a:endParaRPr b="1" sz="900">
              <a:solidFill>
                <a:srgbClr val="0891B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1"/>
          <p:cNvSpPr/>
          <p:nvPr/>
        </p:nvSpPr>
        <p:spPr>
          <a:xfrm>
            <a:off x="539100" y="159645"/>
            <a:ext cx="85026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rebuchet MS"/>
              <a:buNone/>
            </a:pPr>
            <a:r>
              <a:rPr lang="en" sz="2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What should people without a college degree look into?</a:t>
            </a:r>
            <a:endParaRPr sz="20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0" y="4339831"/>
            <a:ext cx="9144000" cy="486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06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1"/>
          <p:cNvSpPr/>
          <p:nvPr/>
        </p:nvSpPr>
        <p:spPr>
          <a:xfrm>
            <a:off x="-1" y="4347934"/>
            <a:ext cx="63900" cy="4869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1"/>
          <p:cNvSpPr/>
          <p:nvPr/>
        </p:nvSpPr>
        <p:spPr>
          <a:xfrm>
            <a:off x="164696" y="4389738"/>
            <a:ext cx="8595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Trebuchet MS"/>
              <a:buNone/>
            </a:pPr>
            <a:r>
              <a:rPr b="1" lang="en" sz="13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The best job opportunity for non degree are concentrated in care and skilled workers.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1"/>
          <p:cNvSpPr/>
          <p:nvPr/>
        </p:nvSpPr>
        <p:spPr>
          <a:xfrm>
            <a:off x="0" y="4846320"/>
            <a:ext cx="9144000" cy="297300"/>
          </a:xfrm>
          <a:prstGeom prst="rect">
            <a:avLst/>
          </a:prstGeom>
          <a:solidFill>
            <a:srgbClr val="DDE1E9"/>
          </a:solidFill>
          <a:ln cap="flat" cmpd="sng" w="12700">
            <a:solidFill>
              <a:srgbClr val="DDE1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63900" y="4866001"/>
            <a:ext cx="74064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8499"/>
              </a:buClr>
              <a:buSzPts val="850"/>
              <a:buFont typeface="Calibri"/>
              <a:buNone/>
            </a:pPr>
            <a:r>
              <a:rPr lang="en" sz="85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 Source: BLS Employment Projections 2024–2034, BLS OEWS 2024</a:t>
            </a:r>
            <a:endParaRPr sz="85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8499"/>
              </a:buClr>
              <a:buSzPts val="850"/>
              <a:buFont typeface="Calibri"/>
              <a:buNone/>
            </a:pPr>
            <a:r>
              <a:t/>
            </a:r>
            <a:endParaRPr sz="85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7378075" y="4864600"/>
            <a:ext cx="1663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8499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The Automation Wave  |  </a:t>
            </a:r>
            <a:r>
              <a:rPr lang="en" sz="85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DATA 613</a:t>
            </a:r>
            <a:endParaRPr b="0" i="0" sz="85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p21" title="Top_Career_Opportunities_That_Don’t_Require_a_College_Degr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4625" y="668921"/>
            <a:ext cx="7139276" cy="361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2"/>
          <p:cNvSpPr/>
          <p:nvPr/>
        </p:nvSpPr>
        <p:spPr>
          <a:xfrm>
            <a:off x="0" y="0"/>
            <a:ext cx="9144000" cy="619200"/>
          </a:xfrm>
          <a:prstGeom prst="rect">
            <a:avLst/>
          </a:prstGeom>
          <a:solidFill>
            <a:srgbClr val="1E2532"/>
          </a:solidFill>
          <a:ln cap="flat" cmpd="sng" w="12700">
            <a:solidFill>
              <a:srgbClr val="1E25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2"/>
          <p:cNvSpPr/>
          <p:nvPr/>
        </p:nvSpPr>
        <p:spPr>
          <a:xfrm>
            <a:off x="0" y="0"/>
            <a:ext cx="470700" cy="619200"/>
          </a:xfrm>
          <a:prstGeom prst="rect">
            <a:avLst/>
          </a:prstGeom>
          <a:solidFill>
            <a:schemeClr val="accent5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2"/>
          <p:cNvSpPr/>
          <p:nvPr/>
        </p:nvSpPr>
        <p:spPr>
          <a:xfrm>
            <a:off x="88241" y="211664"/>
            <a:ext cx="3216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000"/>
              <a:buFont typeface="Calibri"/>
              <a:buNone/>
            </a:pPr>
            <a:r>
              <a:rPr b="1" lang="en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900"/>
              <a:buFont typeface="Calibri"/>
              <a:buNone/>
            </a:pPr>
            <a:r>
              <a:t/>
            </a:r>
            <a:endParaRPr b="1" sz="900">
              <a:solidFill>
                <a:srgbClr val="0891B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2"/>
          <p:cNvSpPr/>
          <p:nvPr/>
        </p:nvSpPr>
        <p:spPr>
          <a:xfrm>
            <a:off x="539100" y="159645"/>
            <a:ext cx="85026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rebuchet MS"/>
              <a:buNone/>
            </a:pPr>
            <a:r>
              <a:rPr lang="en" sz="2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Which Tech Jobs are growing?</a:t>
            </a:r>
            <a:endParaRPr sz="20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5" name="Google Shape;205;p22"/>
          <p:cNvSpPr/>
          <p:nvPr/>
        </p:nvSpPr>
        <p:spPr>
          <a:xfrm>
            <a:off x="0" y="4339831"/>
            <a:ext cx="9144000" cy="486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06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2"/>
          <p:cNvSpPr/>
          <p:nvPr/>
        </p:nvSpPr>
        <p:spPr>
          <a:xfrm>
            <a:off x="-1" y="4347934"/>
            <a:ext cx="63900" cy="4869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2"/>
          <p:cNvSpPr/>
          <p:nvPr/>
        </p:nvSpPr>
        <p:spPr>
          <a:xfrm>
            <a:off x="164696" y="4389738"/>
            <a:ext cx="8595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Trebuchet MS"/>
              <a:buNone/>
            </a:pPr>
            <a:r>
              <a:rPr b="1" lang="en" sz="13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The growth in tech jobs shows demand in development, analytic and infrastructure roles.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2"/>
          <p:cNvSpPr/>
          <p:nvPr/>
        </p:nvSpPr>
        <p:spPr>
          <a:xfrm>
            <a:off x="0" y="4846320"/>
            <a:ext cx="9144000" cy="297300"/>
          </a:xfrm>
          <a:prstGeom prst="rect">
            <a:avLst/>
          </a:prstGeom>
          <a:solidFill>
            <a:srgbClr val="DDE1E9"/>
          </a:solidFill>
          <a:ln cap="flat" cmpd="sng" w="12700">
            <a:solidFill>
              <a:srgbClr val="DDE1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2"/>
          <p:cNvSpPr/>
          <p:nvPr/>
        </p:nvSpPr>
        <p:spPr>
          <a:xfrm>
            <a:off x="0" y="4864600"/>
            <a:ext cx="73056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8499"/>
              </a:buClr>
              <a:buSzPts val="850"/>
              <a:buFont typeface="Calibri"/>
              <a:buNone/>
            </a:pPr>
            <a:r>
              <a:rPr lang="en" sz="85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 Source: BLS Employment Projections 2024–2034, BLS OEWS 2024</a:t>
            </a:r>
            <a:endParaRPr b="0" i="0" sz="85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2"/>
          <p:cNvSpPr/>
          <p:nvPr/>
        </p:nvSpPr>
        <p:spPr>
          <a:xfrm>
            <a:off x="7477499" y="4890275"/>
            <a:ext cx="1564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8499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The Automation Wave  |  </a:t>
            </a:r>
            <a:r>
              <a:rPr lang="en" sz="85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DATA 613</a:t>
            </a:r>
            <a:endParaRPr b="0" i="0" sz="85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1" name="Google Shape;211;p22" title="Top_10_Tech_Jobs_by_Predicted_Job_Growth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3375" y="678550"/>
            <a:ext cx="7374425" cy="360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3"/>
          <p:cNvSpPr/>
          <p:nvPr/>
        </p:nvSpPr>
        <p:spPr>
          <a:xfrm>
            <a:off x="0" y="4339831"/>
            <a:ext cx="9144000" cy="486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06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3"/>
          <p:cNvSpPr/>
          <p:nvPr/>
        </p:nvSpPr>
        <p:spPr>
          <a:xfrm>
            <a:off x="-1" y="4347934"/>
            <a:ext cx="63900" cy="4869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3"/>
          <p:cNvSpPr/>
          <p:nvPr/>
        </p:nvSpPr>
        <p:spPr>
          <a:xfrm>
            <a:off x="164696" y="4389738"/>
            <a:ext cx="8595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Trebuchet MS"/>
              <a:buNone/>
            </a:pPr>
            <a:r>
              <a:rPr b="1" lang="en" sz="13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While tech jobs are growing, routine based task that are easy to automate are declining.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3"/>
          <p:cNvSpPr/>
          <p:nvPr/>
        </p:nvSpPr>
        <p:spPr>
          <a:xfrm>
            <a:off x="0" y="4846320"/>
            <a:ext cx="9144000" cy="297300"/>
          </a:xfrm>
          <a:prstGeom prst="rect">
            <a:avLst/>
          </a:prstGeom>
          <a:solidFill>
            <a:srgbClr val="DDE1E9"/>
          </a:solidFill>
          <a:ln cap="flat" cmpd="sng" w="12700">
            <a:solidFill>
              <a:srgbClr val="DDE1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3"/>
          <p:cNvSpPr/>
          <p:nvPr/>
        </p:nvSpPr>
        <p:spPr>
          <a:xfrm>
            <a:off x="33300" y="4866875"/>
            <a:ext cx="73167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8499"/>
              </a:buClr>
              <a:buSzPts val="850"/>
              <a:buFont typeface="Calibri"/>
              <a:buNone/>
            </a:pPr>
            <a:r>
              <a:rPr lang="en" sz="85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Source: BLS Employment Projections 2024–2034, BLS OEWS 2024</a:t>
            </a:r>
            <a:endParaRPr b="0" i="0" sz="85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3"/>
          <p:cNvSpPr/>
          <p:nvPr/>
        </p:nvSpPr>
        <p:spPr>
          <a:xfrm>
            <a:off x="7477499" y="4853900"/>
            <a:ext cx="1564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8499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The Automation Wave  |  </a:t>
            </a:r>
            <a:r>
              <a:rPr lang="en" sz="85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DATA 613</a:t>
            </a:r>
            <a:endParaRPr b="0" i="0" sz="85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3" name="Google Shape;223;p23" title="Bottom_10_Tech_Jobs_by_Predicted_Job_Los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4500" y="656375"/>
            <a:ext cx="7118625" cy="361652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3"/>
          <p:cNvSpPr/>
          <p:nvPr/>
        </p:nvSpPr>
        <p:spPr>
          <a:xfrm>
            <a:off x="0" y="0"/>
            <a:ext cx="9144000" cy="619200"/>
          </a:xfrm>
          <a:prstGeom prst="rect">
            <a:avLst/>
          </a:prstGeom>
          <a:solidFill>
            <a:srgbClr val="1E2532"/>
          </a:solidFill>
          <a:ln cap="flat" cmpd="sng" w="12700">
            <a:solidFill>
              <a:srgbClr val="1E25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3"/>
          <p:cNvSpPr/>
          <p:nvPr/>
        </p:nvSpPr>
        <p:spPr>
          <a:xfrm>
            <a:off x="0" y="0"/>
            <a:ext cx="470700" cy="619200"/>
          </a:xfrm>
          <a:prstGeom prst="rect">
            <a:avLst/>
          </a:prstGeom>
          <a:solidFill>
            <a:schemeClr val="accent5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3"/>
          <p:cNvSpPr/>
          <p:nvPr/>
        </p:nvSpPr>
        <p:spPr>
          <a:xfrm>
            <a:off x="88241" y="211664"/>
            <a:ext cx="3216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000"/>
              <a:buFont typeface="Calibri"/>
              <a:buNone/>
            </a:pPr>
            <a:r>
              <a:rPr b="1" lang="en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900"/>
              <a:buFont typeface="Calibri"/>
              <a:buNone/>
            </a:pPr>
            <a:r>
              <a:t/>
            </a:r>
            <a:endParaRPr b="1" sz="900">
              <a:solidFill>
                <a:srgbClr val="0891B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3"/>
          <p:cNvSpPr/>
          <p:nvPr/>
        </p:nvSpPr>
        <p:spPr>
          <a:xfrm>
            <a:off x="539100" y="159645"/>
            <a:ext cx="85026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rebuchet MS"/>
              <a:buNone/>
            </a:pPr>
            <a:r>
              <a:rPr lang="en" sz="2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Which Tech Jobs are at risk?</a:t>
            </a:r>
            <a:endParaRPr sz="20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4"/>
          <p:cNvSpPr/>
          <p:nvPr/>
        </p:nvSpPr>
        <p:spPr>
          <a:xfrm>
            <a:off x="0" y="0"/>
            <a:ext cx="9144000" cy="703800"/>
          </a:xfrm>
          <a:prstGeom prst="rect">
            <a:avLst/>
          </a:prstGeom>
          <a:solidFill>
            <a:srgbClr val="1E2532"/>
          </a:solidFill>
          <a:ln cap="flat" cmpd="sng" w="12700">
            <a:solidFill>
              <a:srgbClr val="1E25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4"/>
          <p:cNvSpPr/>
          <p:nvPr/>
        </p:nvSpPr>
        <p:spPr>
          <a:xfrm>
            <a:off x="0" y="0"/>
            <a:ext cx="164700" cy="7038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4"/>
          <p:cNvSpPr/>
          <p:nvPr/>
        </p:nvSpPr>
        <p:spPr>
          <a:xfrm>
            <a:off x="320040" y="44444"/>
            <a:ext cx="22860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900"/>
              <a:buFont typeface="Calibri"/>
              <a:buNone/>
            </a:pPr>
            <a:r>
              <a:rPr b="1" i="0" lang="en" sz="16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KEY INSIGHTS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4"/>
          <p:cNvSpPr/>
          <p:nvPr/>
        </p:nvSpPr>
        <p:spPr>
          <a:xfrm>
            <a:off x="320040" y="281481"/>
            <a:ext cx="8595300" cy="34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lang="en" sz="2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What does the data tells us 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4"/>
          <p:cNvSpPr/>
          <p:nvPr/>
        </p:nvSpPr>
        <p:spPr>
          <a:xfrm>
            <a:off x="365750" y="887049"/>
            <a:ext cx="8412600" cy="703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706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4"/>
          <p:cNvSpPr/>
          <p:nvPr/>
        </p:nvSpPr>
        <p:spPr>
          <a:xfrm>
            <a:off x="365750" y="887049"/>
            <a:ext cx="63900" cy="703800"/>
          </a:xfrm>
          <a:prstGeom prst="rect">
            <a:avLst/>
          </a:prstGeom>
          <a:solidFill>
            <a:srgbClr val="DC3545"/>
          </a:solidFill>
          <a:ln cap="flat" cmpd="sng" w="12700">
            <a:solidFill>
              <a:srgbClr val="DC3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4"/>
          <p:cNvSpPr/>
          <p:nvPr/>
        </p:nvSpPr>
        <p:spPr>
          <a:xfrm>
            <a:off x="470817" y="1168553"/>
            <a:ext cx="5670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3545"/>
              </a:buClr>
              <a:buSzPts val="2800"/>
              <a:buFont typeface="Trebuchet MS"/>
              <a:buNone/>
            </a:pPr>
            <a:r>
              <a:rPr b="1" i="0" lang="en" sz="2800" u="none" cap="none" strike="noStrike">
                <a:solidFill>
                  <a:srgbClr val="DC3545"/>
                </a:solidFill>
                <a:latin typeface="Trebuchet MS"/>
                <a:ea typeface="Trebuchet MS"/>
                <a:cs typeface="Trebuchet MS"/>
                <a:sym typeface="Trebuchet MS"/>
              </a:rPr>
              <a:t>01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4"/>
          <p:cNvSpPr/>
          <p:nvPr/>
        </p:nvSpPr>
        <p:spPr>
          <a:xfrm>
            <a:off x="1188712" y="1203203"/>
            <a:ext cx="73152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n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Repetitive</a:t>
            </a:r>
            <a:r>
              <a:rPr b="1" lang="en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 jobs most at risk. 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4"/>
          <p:cNvSpPr/>
          <p:nvPr/>
        </p:nvSpPr>
        <p:spPr>
          <a:xfrm>
            <a:off x="365750" y="1683185"/>
            <a:ext cx="8412600" cy="703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706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4"/>
          <p:cNvSpPr/>
          <p:nvPr/>
        </p:nvSpPr>
        <p:spPr>
          <a:xfrm>
            <a:off x="365750" y="1683185"/>
            <a:ext cx="63900" cy="703800"/>
          </a:xfrm>
          <a:prstGeom prst="rect">
            <a:avLst/>
          </a:prstGeom>
          <a:solidFill>
            <a:srgbClr val="0B5394"/>
          </a:solidFill>
          <a:ln cap="flat" cmpd="sng" w="12700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4"/>
          <p:cNvSpPr/>
          <p:nvPr/>
        </p:nvSpPr>
        <p:spPr>
          <a:xfrm>
            <a:off x="525667" y="1890788"/>
            <a:ext cx="5670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2800"/>
              <a:buFont typeface="Trebuchet MS"/>
              <a:buNone/>
            </a:pPr>
            <a:r>
              <a:rPr b="1" i="0" lang="en" sz="2800" u="none" cap="none" strike="noStrike">
                <a:solidFill>
                  <a:srgbClr val="0B5394"/>
                </a:solidFill>
                <a:latin typeface="Trebuchet MS"/>
                <a:ea typeface="Trebuchet MS"/>
                <a:cs typeface="Trebuchet MS"/>
                <a:sym typeface="Trebuchet MS"/>
              </a:rPr>
              <a:t>02</a:t>
            </a:r>
            <a:endParaRPr b="0" i="0" sz="2800" u="none" cap="none" strike="noStrike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4"/>
          <p:cNvSpPr/>
          <p:nvPr/>
        </p:nvSpPr>
        <p:spPr>
          <a:xfrm>
            <a:off x="1188712" y="1954288"/>
            <a:ext cx="73152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Trebuchet MS"/>
              <a:buNone/>
            </a:pPr>
            <a:r>
              <a:rPr b="1" lang="en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Strong Workforce requires both AI Skill and Human Touch. </a:t>
            </a:r>
            <a:endParaRPr b="1">
              <a:solidFill>
                <a:srgbClr val="1A1A2E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5" name="Google Shape;245;p24"/>
          <p:cNvSpPr/>
          <p:nvPr/>
        </p:nvSpPr>
        <p:spPr>
          <a:xfrm>
            <a:off x="365750" y="2479320"/>
            <a:ext cx="8412600" cy="703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706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4"/>
          <p:cNvSpPr/>
          <p:nvPr/>
        </p:nvSpPr>
        <p:spPr>
          <a:xfrm>
            <a:off x="365750" y="2479320"/>
            <a:ext cx="63900" cy="703800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4"/>
          <p:cNvSpPr/>
          <p:nvPr/>
        </p:nvSpPr>
        <p:spPr>
          <a:xfrm>
            <a:off x="525667" y="2686911"/>
            <a:ext cx="5670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2800"/>
              <a:buFont typeface="Trebuchet MS"/>
              <a:buNone/>
            </a:pPr>
            <a:r>
              <a:rPr b="1" i="0" lang="en" sz="2800" u="none" cap="none" strike="noStrike">
                <a:solidFill>
                  <a:srgbClr val="E67E22"/>
                </a:solidFill>
                <a:latin typeface="Trebuchet MS"/>
                <a:ea typeface="Trebuchet MS"/>
                <a:cs typeface="Trebuchet MS"/>
                <a:sym typeface="Trebuchet MS"/>
              </a:rPr>
              <a:t>03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4"/>
          <p:cNvSpPr/>
          <p:nvPr/>
        </p:nvSpPr>
        <p:spPr>
          <a:xfrm>
            <a:off x="1188700" y="2721542"/>
            <a:ext cx="7315200" cy="34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Trebuchet MS"/>
              <a:buNone/>
            </a:pPr>
            <a:r>
              <a:rPr b="1" lang="en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Expected Boom in Analytic Roles</a:t>
            </a:r>
            <a:endParaRPr b="1">
              <a:solidFill>
                <a:srgbClr val="1A1A2E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9" name="Google Shape;249;p24"/>
          <p:cNvSpPr/>
          <p:nvPr/>
        </p:nvSpPr>
        <p:spPr>
          <a:xfrm>
            <a:off x="365750" y="3234560"/>
            <a:ext cx="8412600" cy="703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706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4"/>
          <p:cNvSpPr/>
          <p:nvPr/>
        </p:nvSpPr>
        <p:spPr>
          <a:xfrm>
            <a:off x="525667" y="3442163"/>
            <a:ext cx="5670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2800"/>
              <a:buFont typeface="Trebuchet MS"/>
              <a:buNone/>
            </a:pPr>
            <a:r>
              <a:rPr b="1" i="0" lang="en" sz="2800" u="none" cap="none" strike="noStrike">
                <a:solidFill>
                  <a:srgbClr val="198754"/>
                </a:solidFill>
                <a:latin typeface="Trebuchet MS"/>
                <a:ea typeface="Trebuchet MS"/>
                <a:cs typeface="Trebuchet MS"/>
                <a:sym typeface="Trebuchet MS"/>
              </a:rPr>
              <a:t>0</a:t>
            </a:r>
            <a:r>
              <a:rPr b="1" lang="en" sz="2800">
                <a:solidFill>
                  <a:srgbClr val="198754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b="0" i="0" sz="2800" u="none" cap="none" strike="noStrike">
              <a:solidFill>
                <a:srgbClr val="19875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4"/>
          <p:cNvSpPr/>
          <p:nvPr/>
        </p:nvSpPr>
        <p:spPr>
          <a:xfrm>
            <a:off x="1188712" y="3505663"/>
            <a:ext cx="73152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Trebuchet MS"/>
              <a:buNone/>
            </a:pPr>
            <a:r>
              <a:rPr b="1" lang="en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Opportunity for non-college Jobs are </a:t>
            </a:r>
            <a:r>
              <a:rPr b="1" lang="en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in Care and Skilled Labor</a:t>
            </a:r>
            <a:endParaRPr b="1">
              <a:solidFill>
                <a:srgbClr val="1A1A2E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52" name="Google Shape;252;p24"/>
          <p:cNvSpPr/>
          <p:nvPr/>
        </p:nvSpPr>
        <p:spPr>
          <a:xfrm>
            <a:off x="365750" y="4030695"/>
            <a:ext cx="8412600" cy="703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706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4"/>
          <p:cNvSpPr/>
          <p:nvPr/>
        </p:nvSpPr>
        <p:spPr>
          <a:xfrm>
            <a:off x="525667" y="4238286"/>
            <a:ext cx="5670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2800"/>
              <a:buFont typeface="Trebuchet MS"/>
              <a:buNone/>
            </a:pPr>
            <a:r>
              <a:rPr b="1" i="0" lang="en" sz="2800" u="none" cap="none" strike="noStrike">
                <a:solidFill>
                  <a:srgbClr val="A64D79"/>
                </a:solidFill>
                <a:latin typeface="Trebuchet MS"/>
                <a:ea typeface="Trebuchet MS"/>
                <a:cs typeface="Trebuchet MS"/>
                <a:sym typeface="Trebuchet MS"/>
              </a:rPr>
              <a:t>0</a:t>
            </a:r>
            <a:r>
              <a:rPr b="1" lang="en" sz="2800">
                <a:solidFill>
                  <a:srgbClr val="A64D79"/>
                </a:solidFill>
                <a:latin typeface="Trebuchet MS"/>
                <a:ea typeface="Trebuchet MS"/>
                <a:cs typeface="Trebuchet MS"/>
                <a:sym typeface="Trebuchet MS"/>
              </a:rPr>
              <a:t>5</a:t>
            </a:r>
            <a:endParaRPr b="0" i="0" sz="2800" u="none" cap="none" strike="noStrike">
              <a:solidFill>
                <a:srgbClr val="A64D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4"/>
          <p:cNvSpPr/>
          <p:nvPr/>
        </p:nvSpPr>
        <p:spPr>
          <a:xfrm>
            <a:off x="1037825" y="4151431"/>
            <a:ext cx="74661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Trebuchet MS"/>
              <a:buNone/>
            </a:pPr>
            <a:r>
              <a:rPr b="1" lang="en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The future of workforce depends on worker </a:t>
            </a:r>
            <a:r>
              <a:rPr b="1" lang="en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adaptability</a:t>
            </a:r>
            <a:r>
              <a:rPr b="1" lang="en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b="1">
              <a:solidFill>
                <a:srgbClr val="1A1A2E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Trebuchet MS"/>
              <a:buNone/>
            </a:pPr>
            <a:r>
              <a:t/>
            </a:r>
            <a:endParaRPr b="1">
              <a:solidFill>
                <a:srgbClr val="1A1A2E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55" name="Google Shape;255;p24"/>
          <p:cNvSpPr/>
          <p:nvPr/>
        </p:nvSpPr>
        <p:spPr>
          <a:xfrm>
            <a:off x="365741" y="3245092"/>
            <a:ext cx="63900" cy="703800"/>
          </a:xfrm>
          <a:prstGeom prst="rect">
            <a:avLst/>
          </a:prstGeom>
          <a:solidFill>
            <a:srgbClr val="198754"/>
          </a:solidFill>
          <a:ln cap="flat" cmpd="sng" w="12700">
            <a:solidFill>
              <a:srgbClr val="1987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4"/>
          <p:cNvSpPr/>
          <p:nvPr/>
        </p:nvSpPr>
        <p:spPr>
          <a:xfrm>
            <a:off x="369313" y="4032492"/>
            <a:ext cx="63900" cy="703800"/>
          </a:xfrm>
          <a:prstGeom prst="rect">
            <a:avLst/>
          </a:prstGeom>
          <a:solidFill>
            <a:srgbClr val="A64D79"/>
          </a:solidFill>
          <a:ln cap="flat" cmpd="sng" w="12700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4"/>
          <p:cNvSpPr/>
          <p:nvPr/>
        </p:nvSpPr>
        <p:spPr>
          <a:xfrm>
            <a:off x="0" y="4846320"/>
            <a:ext cx="9144000" cy="297300"/>
          </a:xfrm>
          <a:prstGeom prst="rect">
            <a:avLst/>
          </a:prstGeom>
          <a:solidFill>
            <a:srgbClr val="1E2532"/>
          </a:solidFill>
          <a:ln cap="flat" cmpd="sng" w="12700">
            <a:solidFill>
              <a:srgbClr val="DDE1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4"/>
          <p:cNvSpPr/>
          <p:nvPr/>
        </p:nvSpPr>
        <p:spPr>
          <a:xfrm>
            <a:off x="6355073" y="4864600"/>
            <a:ext cx="2560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8499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Automation Wave  | </a:t>
            </a:r>
            <a:r>
              <a:rPr lang="en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613</a:t>
            </a:r>
            <a:endParaRPr b="0" i="0" sz="8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532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5"/>
          <p:cNvSpPr/>
          <p:nvPr/>
        </p:nvSpPr>
        <p:spPr>
          <a:xfrm>
            <a:off x="0" y="0"/>
            <a:ext cx="201300" cy="51435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5"/>
          <p:cNvSpPr/>
          <p:nvPr/>
        </p:nvSpPr>
        <p:spPr>
          <a:xfrm>
            <a:off x="5925975" y="73125"/>
            <a:ext cx="2933700" cy="2743200"/>
          </a:xfrm>
          <a:prstGeom prst="ellipse">
            <a:avLst/>
          </a:prstGeom>
          <a:solidFill>
            <a:srgbClr val="263040"/>
          </a:solidFill>
          <a:ln cap="flat" cmpd="sng" w="12700">
            <a:solidFill>
              <a:srgbClr val="263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5"/>
          <p:cNvSpPr/>
          <p:nvPr/>
        </p:nvSpPr>
        <p:spPr>
          <a:xfrm>
            <a:off x="6274500" y="2276850"/>
            <a:ext cx="2743200" cy="2743200"/>
          </a:xfrm>
          <a:prstGeom prst="ellipse">
            <a:avLst/>
          </a:prstGeom>
          <a:solidFill>
            <a:srgbClr val="2E3D52"/>
          </a:solidFill>
          <a:ln cap="flat" cmpd="sng" w="12700">
            <a:solidFill>
              <a:srgbClr val="2E3D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5"/>
          <p:cNvSpPr/>
          <p:nvPr/>
        </p:nvSpPr>
        <p:spPr>
          <a:xfrm>
            <a:off x="5520275" y="2084770"/>
            <a:ext cx="1645800" cy="1645800"/>
          </a:xfrm>
          <a:prstGeom prst="ellipse">
            <a:avLst/>
          </a:prstGeom>
          <a:solidFill>
            <a:srgbClr val="0891B2">
              <a:alpha val="20000"/>
            </a:srgbClr>
          </a:solidFill>
          <a:ln cap="flat" cmpd="sng" w="12700">
            <a:solidFill>
              <a:srgbClr val="0891B2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5"/>
          <p:cNvSpPr/>
          <p:nvPr/>
        </p:nvSpPr>
        <p:spPr>
          <a:xfrm>
            <a:off x="302350" y="4671600"/>
            <a:ext cx="82296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12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GROUP PROJECT</a:t>
            </a:r>
            <a:r>
              <a:rPr b="1" lang="en" sz="1200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" sz="9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Automation Wave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Presented By :</a:t>
            </a:r>
            <a:r>
              <a:rPr b="0" i="0" lang="en" sz="12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Pinal Dalwadi</a:t>
            </a:r>
            <a:r>
              <a:rPr lang="en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Shristi Pokharel &amp; Joel Wheatley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5"/>
          <p:cNvSpPr/>
          <p:nvPr/>
        </p:nvSpPr>
        <p:spPr>
          <a:xfrm>
            <a:off x="302350" y="839038"/>
            <a:ext cx="85572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Trebuchet MS"/>
              <a:buNone/>
            </a:pPr>
            <a:r>
              <a:rPr lang="en" sz="3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Be prepared for a Different Landscape</a:t>
            </a:r>
            <a:endParaRPr b="1" sz="54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0" name="Google Shape;270;p25"/>
          <p:cNvSpPr/>
          <p:nvPr/>
        </p:nvSpPr>
        <p:spPr>
          <a:xfrm>
            <a:off x="411575" y="1657500"/>
            <a:ext cx="6754500" cy="13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2200"/>
              <a:buFont typeface="Calibri"/>
              <a:buNone/>
            </a:pPr>
            <a:r>
              <a:rPr i="1" lang="en" sz="2200">
                <a:solidFill>
                  <a:srgbClr val="DDE1E9"/>
                </a:solidFill>
                <a:latin typeface="Calibri"/>
                <a:ea typeface="Calibri"/>
                <a:cs typeface="Calibri"/>
                <a:sym typeface="Calibri"/>
              </a:rPr>
              <a:t>AI will not replace all the workers but those who adapt will have the greatest advantage in the future economy.</a:t>
            </a:r>
            <a:endParaRPr b="0" i="0" sz="2200" u="none" cap="none" strike="noStrike">
              <a:solidFill>
                <a:srgbClr val="DDE1E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5"/>
          <p:cNvSpPr/>
          <p:nvPr/>
        </p:nvSpPr>
        <p:spPr>
          <a:xfrm>
            <a:off x="411569" y="3017615"/>
            <a:ext cx="5426700" cy="945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5"/>
          <p:cNvSpPr/>
          <p:nvPr/>
        </p:nvSpPr>
        <p:spPr>
          <a:xfrm>
            <a:off x="302350" y="73125"/>
            <a:ext cx="189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000"/>
              <a:buFont typeface="Calibri"/>
              <a:buNone/>
            </a:pPr>
            <a:r>
              <a:rPr b="1" lang="en" sz="1600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AI vs. the job market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